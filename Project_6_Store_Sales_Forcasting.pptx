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32"/>
  </p:notesMasterIdLst>
  <p:sldIdLst>
    <p:sldId id="256" r:id="rId2"/>
    <p:sldId id="277" r:id="rId3"/>
    <p:sldId id="281" r:id="rId4"/>
    <p:sldId id="282" r:id="rId5"/>
    <p:sldId id="257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300" r:id="rId20"/>
    <p:sldId id="299" r:id="rId21"/>
    <p:sldId id="301" r:id="rId22"/>
    <p:sldId id="302" r:id="rId23"/>
    <p:sldId id="304" r:id="rId24"/>
    <p:sldId id="303" r:id="rId25"/>
    <p:sldId id="305" r:id="rId26"/>
    <p:sldId id="306" r:id="rId27"/>
    <p:sldId id="307" r:id="rId28"/>
    <p:sldId id="284" r:id="rId29"/>
    <p:sldId id="283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0458" autoAdjust="0"/>
  </p:normalViewPr>
  <p:slideViewPr>
    <p:cSldViewPr snapToGrid="0">
      <p:cViewPr varScale="1">
        <p:scale>
          <a:sx n="74" d="100"/>
          <a:sy n="74" d="100"/>
        </p:scale>
        <p:origin x="103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9B22C-FDE0-4C22-A23C-ADE345A9B4EC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6CA3B-11D0-4D45-9BA6-AB29D355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675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6CA3B-11D0-4D45-9BA6-AB29D355CCC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131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3CBA-290C-4336-8771-58BCA7CA1EB5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71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7DB7-0857-4D9D-8CCE-E4863DEAAEDD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98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471E-F115-4744-9266-324881C3DD5A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83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4D64-A954-4476-8B6B-70C2195F99C5}" type="datetime1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90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47B53-5C46-4484-82B7-F4DDE7F872F6}" type="datetime1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64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0429-28AE-470D-8FC5-AD4DC5DCE010}" type="datetime1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559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F943-5FB5-4EA8-8117-37C2D8C6F0AB}" type="datetime1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61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5582A-98FF-41CB-A4BF-7DE63553177B}" type="datetime1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49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85FFC38-9745-4A5F-B931-65BDDDA2BCC2}" type="datetime1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46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FA17-7D8D-443F-A4D5-BAA0E4B20774}" type="datetime1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302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058F-AC58-4303-AE01-BD0A294E5B44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090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234FA-D9DD-4F30-AF78-90F559880B62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686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52885-87C3-473C-9E03-327F0E96A0D5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147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E619-3EB2-4167-A16E-A8261FF0BEAF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852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FE39-28B6-4D09-B2FE-B646E57F2C21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419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0EF-CD7D-46D2-A61B-F1176DDFAC66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462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CA86-4DDD-4F5D-BC33-8D661BB10FEA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72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FD07A34-0689-4326-A7C0-5CBD1F185CE6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F1C4BEA-143A-4242-9652-D7EF89A3B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4730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  <p:sldLayoutId id="2147484049" r:id="rId12"/>
    <p:sldLayoutId id="2147484050" r:id="rId13"/>
    <p:sldLayoutId id="2147484051" r:id="rId14"/>
    <p:sldLayoutId id="2147484052" r:id="rId15"/>
    <p:sldLayoutId id="2147484053" r:id="rId16"/>
    <p:sldLayoutId id="2147484054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3827744-DADE-422A-FF1D-180A3CB2DC43}"/>
              </a:ext>
            </a:extLst>
          </p:cNvPr>
          <p:cNvSpPr txBox="1"/>
          <p:nvPr/>
        </p:nvSpPr>
        <p:spPr>
          <a:xfrm>
            <a:off x="1038225" y="1597729"/>
            <a:ext cx="10315575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dirty="0"/>
              <a:t>Sales Forecasting Across Multiple Retail Stores </a:t>
            </a:r>
          </a:p>
          <a:p>
            <a:pPr algn="ctr">
              <a:buNone/>
            </a:pPr>
            <a:endParaRPr lang="en-IN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This project develops an end-to-end Store Sales Forecasting system using historical sales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It combines Machine Learning, Time-Series Analysis, and Deep Learning to identify sales patterns and predict future sales.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Models such as Random Forest, ARIMA, SARIMA, LSTM, and GRU are evaluated, with an interactive Streamlit dashboard used to visualize performance and generate 7-day sales forecasts.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F2D3C9-EA19-1C07-264D-1C9562591026}"/>
              </a:ext>
            </a:extLst>
          </p:cNvPr>
          <p:cNvSpPr txBox="1"/>
          <p:nvPr/>
        </p:nvSpPr>
        <p:spPr>
          <a:xfrm>
            <a:off x="0" y="4272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I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Project Overview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288D9FB2-F502-69F7-C183-A9FF36C2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49EBD-886C-49C9-A240-9C6FC3CB2B24}" type="datetime1">
              <a:rPr lang="en-IN" smtClean="0"/>
              <a:t>15-09-2026</a:t>
            </a:fld>
            <a:endParaRPr lang="en-IN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63D8DA7-9CC2-1E85-6371-9FFC19CD9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7C4F084-82EC-4F61-245B-02DBBA87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53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437AF8-D898-7B75-D023-03FAFD9A7A05}"/>
              </a:ext>
            </a:extLst>
          </p:cNvPr>
          <p:cNvSpPr txBox="1">
            <a:spLocks/>
          </p:cNvSpPr>
          <p:nvPr/>
        </p:nvSpPr>
        <p:spPr>
          <a:xfrm>
            <a:off x="953729" y="1531937"/>
            <a:ext cx="105731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dirty="0"/>
              <a:t>Analyse and preprocess historical store sales data. </a:t>
            </a:r>
          </a:p>
          <a:p>
            <a:pPr lvl="0"/>
            <a:r>
              <a:rPr lang="en-IN" sz="2400" dirty="0"/>
              <a:t>Identify key sales patterns, trends, and seasonal effects. </a:t>
            </a:r>
          </a:p>
          <a:p>
            <a:pPr lvl="0"/>
            <a:r>
              <a:rPr lang="en-IN" sz="2400" dirty="0"/>
              <a:t>Build and compare Machine Learning, ARIMA/SARIMA, LSTM, and GRU models. </a:t>
            </a:r>
          </a:p>
          <a:p>
            <a:pPr lvl="0"/>
            <a:r>
              <a:rPr lang="en-IN" sz="2400" dirty="0"/>
              <a:t>Develop a 7-day sales forecasting model using Multivariate GRU. </a:t>
            </a:r>
          </a:p>
          <a:p>
            <a:pPr lvl="0"/>
            <a:r>
              <a:rPr lang="en-IN" sz="2400" dirty="0"/>
              <a:t>Create an interactive Streamlit dashboard for sales analysis and forecasting.</a:t>
            </a:r>
          </a:p>
          <a:p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9A8A2-9CD8-B190-CACF-BDF123289D96}"/>
              </a:ext>
            </a:extLst>
          </p:cNvPr>
          <p:cNvSpPr txBox="1"/>
          <p:nvPr/>
        </p:nvSpPr>
        <p:spPr>
          <a:xfrm>
            <a:off x="953729" y="346627"/>
            <a:ext cx="9937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+mj-lt"/>
              </a:rPr>
              <a:t>Objective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6E843E0A-BD8A-08C9-780D-726F74D3C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A04-019A-4774-9B6C-F184B88D856A}" type="datetime1">
              <a:rPr lang="en-IN" smtClean="0"/>
              <a:t>15-09-2026</a:t>
            </a:fld>
            <a:endParaRPr lang="en-IN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53663D9-F59B-1A38-BBFE-68456E0FC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8B2F669-263E-648C-DB03-A5AB1525B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465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A6A39-C43A-BFD3-3027-D8ACCD477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05E427C-2106-D357-8C0D-C43E1227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ED77E-F9C2-434E-8F99-13B59369F588}" type="datetime1">
              <a:rPr lang="en-IN" smtClean="0"/>
              <a:t>15-09-2026</a:t>
            </a:fld>
            <a:endParaRPr lang="en-IN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2D9CBE3-9222-DCEA-21EE-31DA6D52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1CB5779-2599-34B5-2EE5-6F8B1011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DD031-65C5-80CC-6853-CC13ACA6FF81}"/>
              </a:ext>
            </a:extLst>
          </p:cNvPr>
          <p:cNvSpPr txBox="1"/>
          <p:nvPr/>
        </p:nvSpPr>
        <p:spPr>
          <a:xfrm>
            <a:off x="2259589" y="136525"/>
            <a:ext cx="8254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latin typeface="+mj-lt"/>
              </a:defRPr>
            </a:lvl1pPr>
          </a:lstStyle>
          <a:p>
            <a:r>
              <a:rPr lang="en-IN" dirty="0"/>
              <a:t>EDA-Distribution Plot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5B30E2-3B3E-5965-1BF0-1365B7D10DCC}"/>
              </a:ext>
            </a:extLst>
          </p:cNvPr>
          <p:cNvSpPr txBox="1"/>
          <p:nvPr/>
        </p:nvSpPr>
        <p:spPr>
          <a:xfrm>
            <a:off x="5516643" y="3534934"/>
            <a:ext cx="59222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Insights 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Average sales vary significantly across the days of the week.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 Monday records the highest average sales, while sales generally decline toward the weekend, with a slight increase on Friday.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  This indicates that DayOfWeek and Open are important variables for understanding and predicting store sales.</a:t>
            </a:r>
          </a:p>
          <a:p>
            <a:pPr lvl="0"/>
            <a:endParaRPr lang="en-IN" b="1" dirty="0"/>
          </a:p>
          <a:p>
            <a:pPr lvl="0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64F4EA-D3E2-686A-EB3F-51F28CBAB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72841"/>
            <a:ext cx="4338929" cy="24620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FB16CA-66E8-37B5-4EEB-270D1D1E72C8}"/>
              </a:ext>
            </a:extLst>
          </p:cNvPr>
          <p:cNvSpPr txBox="1"/>
          <p:nvPr/>
        </p:nvSpPr>
        <p:spPr>
          <a:xfrm>
            <a:off x="5516643" y="99051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b="1" dirty="0">
                <a:solidFill>
                  <a:schemeClr val="tx1"/>
                </a:solidFill>
                <a:effectLst/>
                <a:latin typeface="+mn-lt"/>
              </a:rPr>
              <a:t>Insights: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The Sales variable shows a positively skewed distribution.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A significant peak at zero is also observed, which may mainly represent days when stores were closed.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 High sales values should be investigated with promotional and holiday-related features before considering them as outliers.</a:t>
            </a:r>
            <a:endParaRPr lang="en-IN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86E612-646E-B38D-6694-E5DE50A49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659800"/>
            <a:ext cx="4338929" cy="250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288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1FEDA-A4E4-BD74-124F-189695ABE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33A4DF29-2F8A-7F60-25D9-4F08CE9FC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3C392-CBD6-4FAC-AE55-EC9F774EF766}" type="datetime1">
              <a:rPr lang="en-IN" smtClean="0"/>
              <a:t>15-09-2026</a:t>
            </a:fld>
            <a:endParaRPr lang="en-IN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975D8BF8-E725-B88A-1FA5-27722885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AA76CAD-09FB-E42A-A13A-10E6F550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662B3D-3692-8762-D566-51ABEA18AE3C}"/>
              </a:ext>
            </a:extLst>
          </p:cNvPr>
          <p:cNvSpPr txBox="1"/>
          <p:nvPr/>
        </p:nvSpPr>
        <p:spPr>
          <a:xfrm>
            <a:off x="2376947" y="406730"/>
            <a:ext cx="7406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latin typeface="+mj-lt"/>
              </a:defRPr>
            </a:lvl1pPr>
          </a:lstStyle>
          <a:p>
            <a:r>
              <a:rPr lang="en-IN" dirty="0"/>
              <a:t>EDA-Scatter Plot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36BE25-6647-330F-48F5-D8A45F0EADE7}"/>
              </a:ext>
            </a:extLst>
          </p:cNvPr>
          <p:cNvSpPr txBox="1"/>
          <p:nvPr/>
        </p:nvSpPr>
        <p:spPr>
          <a:xfrm>
            <a:off x="5829301" y="1572922"/>
            <a:ext cx="56007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Insights –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The scatter plot indicates a strong positive relationship between customer count and sales, with sales generally increasing as the number of customers increases.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 This suggests that customer footfall is a major factor associated with store revenue.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However, variations in sales at similar customer levels indicate that other factors such as promotions, store type, and assortment may also influence customer spending.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Since customer information is unavailable in the test dataset, it should be used for EDA but excluded from the final forecasting model.</a:t>
            </a:r>
          </a:p>
          <a:p>
            <a:endParaRPr lang="en-IN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B6D2E4-B7BA-1E22-8280-DEE888DDF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1672220"/>
            <a:ext cx="4603733" cy="39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9FDB-24D6-FBC9-026E-99B34777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953"/>
            <a:ext cx="10515600" cy="863906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Correlation with Sales</a:t>
            </a:r>
            <a:br>
              <a:rPr lang="en-IN" sz="4000" b="1" dirty="0"/>
            </a:br>
            <a:br>
              <a:rPr lang="en-IN" sz="4000" dirty="0"/>
            </a:br>
            <a:endParaRPr lang="en-IN" sz="4000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A21CC66-71DD-1560-455D-7CF69D225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06E11-D650-4F0F-90C0-60B42A042CF1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6C8DE29-1CC3-CC86-5972-72DC9B27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2566A7-D6D7-F218-2672-9975CAE3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5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426E62-E5AC-86F1-FF9E-3FD891CF4746}"/>
              </a:ext>
            </a:extLst>
          </p:cNvPr>
          <p:cNvSpPr txBox="1">
            <a:spLocks/>
          </p:cNvSpPr>
          <p:nvPr/>
        </p:nvSpPr>
        <p:spPr>
          <a:xfrm>
            <a:off x="6229350" y="1572034"/>
            <a:ext cx="5200650" cy="4210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1" i="0">
                <a:latin typeface="+mj-lt"/>
                <a:ea typeface="+mj-ea"/>
                <a:cs typeface="+mj-cs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chemeClr val="tx1"/>
              </a:buClr>
            </a:pPr>
            <a:r>
              <a:rPr lang="en-IN" sz="1800" dirty="0">
                <a:latin typeface="+mn-lt"/>
              </a:rPr>
              <a:t>Insights</a:t>
            </a:r>
            <a:r>
              <a:rPr lang="en-IN" sz="1600" dirty="0">
                <a:latin typeface="+mn-lt"/>
              </a:rPr>
              <a:t> –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0" dirty="0"/>
              <a:t>Customer count shows the strongest positive correlation with Sales, followed by store opening status and promotions.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0" dirty="0"/>
              <a:t> DayOfWeek shows a moderate negative correlation, indicating that sales vary considerably across the week.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0" dirty="0"/>
              <a:t> Most competition and Promo2-related variables have relatively weak individual linear correlations with Sales.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0" dirty="0"/>
              <a:t> However, these features should not be discarded solely on the basis of correlation, as they may provide useful nonlinear or interaction effects in machine-learning models.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0" dirty="0"/>
              <a:t> Customers, although highly correlated with Sales, should be excluded from the final forecasting model because it is unavailable in the test dataset.</a:t>
            </a:r>
          </a:p>
          <a:p>
            <a:pPr>
              <a:buClr>
                <a:schemeClr val="tx1"/>
              </a:buClr>
            </a:pPr>
            <a:endParaRPr lang="en-IN" sz="16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4358CE-6762-3FBE-FFD3-D02D20472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19" y="1745961"/>
            <a:ext cx="5574932" cy="357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21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71AC6-23C7-4910-B834-EF45219F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9EEA5-2D73-337F-C19E-F5F4748E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953"/>
            <a:ext cx="10515600" cy="863906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Features Importance</a:t>
            </a:r>
            <a:br>
              <a:rPr lang="en-IN" sz="4000" b="1" dirty="0"/>
            </a:br>
            <a:br>
              <a:rPr lang="en-IN" sz="4000" dirty="0"/>
            </a:br>
            <a:endParaRPr lang="en-IN" sz="4000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EDCB993-BEC5-CC6A-5B7F-EF01E38A3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1490-4B73-4BBA-BD41-CB20640E4F2C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E7402A2-0383-C36C-095F-7BDE62E9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598353E-788C-17F7-9B8A-04C6EE4E1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6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A7AFBA-C296-6279-8074-1130B8C5B701}"/>
              </a:ext>
            </a:extLst>
          </p:cNvPr>
          <p:cNvSpPr txBox="1">
            <a:spLocks/>
          </p:cNvSpPr>
          <p:nvPr/>
        </p:nvSpPr>
        <p:spPr>
          <a:xfrm>
            <a:off x="6096000" y="1657979"/>
            <a:ext cx="5341937" cy="3555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1" i="0">
                <a:latin typeface="+mj-lt"/>
                <a:ea typeface="+mj-ea"/>
                <a:cs typeface="+mj-cs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chemeClr val="tx1"/>
              </a:buClr>
            </a:pPr>
            <a:r>
              <a:rPr lang="en-IN" sz="1800" dirty="0">
                <a:latin typeface="+mn-lt"/>
              </a:rPr>
              <a:t>Insights</a:t>
            </a:r>
            <a:r>
              <a:rPr lang="en-IN" sz="1600" dirty="0">
                <a:latin typeface="+mn-lt"/>
              </a:rPr>
              <a:t> –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600" dirty="0"/>
              <a:t>Open is by far the most important feature, showing that whether a store is open strongly determines its sales.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600" dirty="0"/>
              <a:t>Promo is the next major factor, indicating that promotions significantly influence sales.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600" dirty="0"/>
              <a:t>Competition Distance and Store also contribute noticeably to sales prediction.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600" dirty="0"/>
              <a:t>Calendar and store characteristics such as Day of Week, Store Type, Assortment, and Promo2 have smaller but useful effects.</a:t>
            </a:r>
          </a:p>
          <a:p>
            <a:pPr>
              <a:buClr>
                <a:schemeClr val="tx1"/>
              </a:buClr>
            </a:pPr>
            <a:endParaRPr lang="en-IN" sz="1600" dirty="0">
              <a:latin typeface="+mn-lt"/>
            </a:endParaRPr>
          </a:p>
          <a:p>
            <a:pPr>
              <a:buClr>
                <a:schemeClr val="tx1"/>
              </a:buClr>
            </a:pPr>
            <a:endParaRPr lang="en-IN" sz="16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77473E-523B-0FFA-5E9A-47D856FD8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27" y="1657979"/>
            <a:ext cx="4971147" cy="346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13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DB436-09E5-382E-E00F-43402692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4637-3E47-8C5F-176F-E6A600CD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953"/>
            <a:ext cx="10515600" cy="863906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Features Importance</a:t>
            </a:r>
            <a:br>
              <a:rPr lang="en-IN" sz="4000" b="1" dirty="0"/>
            </a:br>
            <a:br>
              <a:rPr lang="en-IN" sz="4000" dirty="0"/>
            </a:br>
            <a:endParaRPr lang="en-IN" sz="4000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4D6203E-5A14-D0F4-C392-159AB6C75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F2B4-10A2-48C7-B132-6CA33EA2C6A0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E85D6-75CF-749F-23B5-B87391C1B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D939E84-3325-5B32-B59C-18F3C698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7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9DDDE5-948A-F48E-054A-0BA5FB9A53C5}"/>
              </a:ext>
            </a:extLst>
          </p:cNvPr>
          <p:cNvSpPr txBox="1">
            <a:spLocks/>
          </p:cNvSpPr>
          <p:nvPr/>
        </p:nvSpPr>
        <p:spPr>
          <a:xfrm>
            <a:off x="6096000" y="1657979"/>
            <a:ext cx="5341937" cy="3555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1" i="0">
                <a:latin typeface="+mj-lt"/>
                <a:ea typeface="+mj-ea"/>
                <a:cs typeface="+mj-cs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chemeClr val="tx1"/>
              </a:buClr>
            </a:pPr>
            <a:r>
              <a:rPr lang="en-IN" sz="1800" dirty="0">
                <a:latin typeface="+mn-lt"/>
              </a:rPr>
              <a:t>Insights</a:t>
            </a:r>
            <a:r>
              <a:rPr lang="en-IN" sz="1600" dirty="0">
                <a:latin typeface="+mn-lt"/>
              </a:rPr>
              <a:t> –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600" dirty="0"/>
              <a:t>Most points lie close to the diagonal line, showing that Random Forest predictions are generally close to actual sales.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600" dirty="0"/>
              <a:t>The model performs especially well for the common low-to-medium sales range.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600" dirty="0"/>
              <a:t>Some deviation appears at very high sales values, where the model tends to underestimate certain peaks.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600" dirty="0"/>
              <a:t>Overall, the plot indicates strong predictive performance, consistent with the model’s R² ≈ 0.84.</a:t>
            </a:r>
          </a:p>
          <a:p>
            <a:pPr>
              <a:buClr>
                <a:schemeClr val="tx1"/>
              </a:buClr>
            </a:pPr>
            <a:endParaRPr lang="en-IN" sz="1600" dirty="0">
              <a:latin typeface="+mn-lt"/>
            </a:endParaRPr>
          </a:p>
          <a:p>
            <a:pPr>
              <a:buClr>
                <a:schemeClr val="tx1"/>
              </a:buClr>
            </a:pPr>
            <a:endParaRPr lang="en-IN" sz="1600" dirty="0">
              <a:latin typeface="+mn-lt"/>
            </a:endParaRPr>
          </a:p>
          <a:p>
            <a:pPr>
              <a:buClr>
                <a:schemeClr val="tx1"/>
              </a:buClr>
            </a:pPr>
            <a:endParaRPr lang="en-IN" sz="16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2DCD9-BEAA-06A3-57D1-83C43E633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23" y="1808017"/>
            <a:ext cx="5444667" cy="330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564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EE932-2231-32B6-0ED6-4F3DEB45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4AFB75C-0524-C302-5658-EDCC0EB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FF85C-3338-4E97-85A4-63500EFE36AA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AE698FD-E3BB-3855-6AC7-E178BB4BD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8D32F55-9E42-E807-A552-0C6D27FA0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0015D5-0F52-9708-B942-902D04269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65" y="1272939"/>
            <a:ext cx="9578830" cy="305163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B3D6AB3-02BE-BD84-1BA9-37CA56186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953"/>
            <a:ext cx="10515600" cy="863906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Aggregate Daily Sales Series</a:t>
            </a:r>
            <a:br>
              <a:rPr lang="en-IN" sz="4000" b="1" dirty="0"/>
            </a:br>
            <a:br>
              <a:rPr lang="en-IN" sz="4000" dirty="0"/>
            </a:br>
            <a:endParaRPr lang="en-IN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24A763-83DA-99C4-8153-F1CCCE953CE1}"/>
              </a:ext>
            </a:extLst>
          </p:cNvPr>
          <p:cNvSpPr txBox="1"/>
          <p:nvPr/>
        </p:nvSpPr>
        <p:spPr>
          <a:xfrm>
            <a:off x="1118754" y="4525971"/>
            <a:ext cx="10515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Insights: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Sales exhibit strong recurring patterns and occasional peaks, making time-series forecasting suitable for predicting future demand.</a:t>
            </a:r>
          </a:p>
        </p:txBody>
      </p:sp>
    </p:spTree>
    <p:extLst>
      <p:ext uri="{BB962C8B-B14F-4D97-AF65-F5344CB8AC3E}">
        <p14:creationId xmlns:p14="http://schemas.microsoft.com/office/powerpoint/2010/main" val="326646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900D-7F94-421D-10D9-DD9A8AB4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B258DC5B-2B17-D009-E7C5-F9FD94FE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3CAD-B453-4C41-82E8-2331613D2958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3CE2B48-EB07-6E0E-8334-1904B0E4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FE00D6F-8227-99F2-6C1E-1E82B3513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9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81CDC77-BCC1-2CB4-C295-365F628E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120"/>
            <a:ext cx="10515600" cy="863906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ACF/PACF-Daily Sales</a:t>
            </a:r>
            <a:br>
              <a:rPr lang="en-IN" sz="4000" b="1" dirty="0"/>
            </a:br>
            <a:br>
              <a:rPr lang="en-IN" sz="4000" dirty="0"/>
            </a:br>
            <a:endParaRPr lang="en-IN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C84DC-19E8-0F53-4CB2-B20489E94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12" y="1196681"/>
            <a:ext cx="3686897" cy="2459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870E54-C565-E2FF-0CC7-4ED7568F0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612" y="3773288"/>
            <a:ext cx="3686897" cy="26518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18D87B-46CC-944D-FCC6-A6DA071756AF}"/>
              </a:ext>
            </a:extLst>
          </p:cNvPr>
          <p:cNvSpPr txBox="1"/>
          <p:nvPr/>
        </p:nvSpPr>
        <p:spPr>
          <a:xfrm>
            <a:off x="5416262" y="1432282"/>
            <a:ext cx="609426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b="1" dirty="0">
                <a:solidFill>
                  <a:schemeClr val="tx1"/>
                </a:solidFill>
                <a:effectLst/>
                <a:latin typeface="+mn-lt"/>
              </a:rPr>
              <a:t>Insights:</a:t>
            </a:r>
          </a:p>
          <a:p>
            <a:pPr>
              <a:lnSpc>
                <a:spcPct val="100000"/>
              </a:lnSpc>
              <a:buNone/>
            </a:pPr>
            <a:endParaRPr lang="en-IN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ACF/PACF plots also show something very important: there are strong spikes around lags 7, 14, 21, 28, and 35.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IN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That's a clear sign of a weekly seasonal pattern in daily sales.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IN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 This will matter especially when we reach SARIMA, where seasonal period s = 7 is a sensible candidate.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ACF and PACF confirm strong weekly seasonality (s = 7), supporting the use of seasonal forecasting models such as SARIMA and sequence models like LSTM/GRU.</a:t>
            </a:r>
          </a:p>
        </p:txBody>
      </p:sp>
    </p:spTree>
    <p:extLst>
      <p:ext uri="{BB962C8B-B14F-4D97-AF65-F5344CB8AC3E}">
        <p14:creationId xmlns:p14="http://schemas.microsoft.com/office/powerpoint/2010/main" val="4045908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024D-40B3-78B5-C469-A3567297C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445B3B3-88A2-DAF1-AA24-1C4DC7C1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DA3D-C956-476E-A0C1-DCEA11AF7850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8BB5A8A3-2704-408C-9B84-7E257FB5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09DB03D-9CF4-CD2F-6B5A-EDE40F6A5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10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E6187FB-9F92-A7CA-F56C-D9465AEFD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120"/>
            <a:ext cx="10515600" cy="863906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LSTM Forecast</a:t>
            </a:r>
            <a:br>
              <a:rPr lang="en-IN" sz="4000" b="1" dirty="0"/>
            </a:br>
            <a:br>
              <a:rPr lang="en-IN" sz="4000" dirty="0"/>
            </a:b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66626D-180D-23C1-D2D6-7885A38FD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36" y="1236344"/>
            <a:ext cx="10306643" cy="33772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B08224-BC0C-6317-5D74-0C86FE53F8FD}"/>
              </a:ext>
            </a:extLst>
          </p:cNvPr>
          <p:cNvSpPr txBox="1"/>
          <p:nvPr/>
        </p:nvSpPr>
        <p:spPr>
          <a:xfrm>
            <a:off x="608807" y="4682946"/>
            <a:ext cx="109743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b="1" dirty="0">
                <a:solidFill>
                  <a:schemeClr val="tx1"/>
                </a:solidFill>
                <a:effectLst/>
                <a:latin typeface="+mn-lt"/>
              </a:rPr>
              <a:t>Insights: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LSTM is clearly learning the weekly sales pattern, including many of the sharp low-sales days.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The forecast is smoother than the actual series, though, so it tends to underestimate some high-sales peaks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197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58433-4EBE-6BBA-7C01-EE73BD02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D77370B-AA67-C631-6BD3-BBDC85F6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57E0-F2EE-48D8-89E8-CDBC75E7D473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38E53C6-FEA8-C5F8-9EF3-06715991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138BD53-FCA7-4476-ACE9-2D28835D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11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E4C891-72AF-549D-CD18-656378ECD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120"/>
            <a:ext cx="10515600" cy="863906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LSTM Loss Graph</a:t>
            </a:r>
            <a:br>
              <a:rPr lang="en-IN" sz="4000" b="1" dirty="0"/>
            </a:br>
            <a:br>
              <a:rPr lang="en-IN" sz="4000" dirty="0"/>
            </a:br>
            <a:endParaRPr lang="en-IN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5F75B5-98F1-2E31-B805-D932C09E82B9}"/>
              </a:ext>
            </a:extLst>
          </p:cNvPr>
          <p:cNvSpPr txBox="1"/>
          <p:nvPr/>
        </p:nvSpPr>
        <p:spPr>
          <a:xfrm>
            <a:off x="838200" y="4128949"/>
            <a:ext cx="102269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b="1" dirty="0">
                <a:solidFill>
                  <a:schemeClr val="tx1"/>
                </a:solidFill>
                <a:effectLst/>
                <a:latin typeface="+mn-lt"/>
              </a:rPr>
              <a:t>Insights: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The loss graph is also encouraging: training and validation loss both decrease and remain fairly close.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 There’s no obvious severe overfitting; toward the final epochs, validation loss levels off while training loss continues slightly downward.</a:t>
            </a:r>
          </a:p>
          <a:p>
            <a:pPr>
              <a:lnSpc>
                <a:spcPct val="100000"/>
              </a:lnSpc>
              <a:buNone/>
            </a:pPr>
            <a:endParaRPr lang="en-IN" sz="1800" b="1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E5D1D4-3B8E-F85F-A3CA-545D3D0FC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5375"/>
            <a:ext cx="10226980" cy="291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671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835BC-DB76-8312-1AA2-8663CFCB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978D926-89D1-92C7-0D6D-05DEB4D5B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804D-F384-4778-A333-717C33D1F232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F1225927-4FDB-EC5A-6F50-4FB207146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14F7E5E-594B-27E9-53B0-2EC5EBFA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12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74E3AE-DD1C-DDD6-4D10-E7E4B2A38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120"/>
            <a:ext cx="10515600" cy="863906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Comparisons GRU &amp; LSTM Models</a:t>
            </a:r>
            <a:br>
              <a:rPr lang="en-IN" sz="4000" b="1" dirty="0"/>
            </a:br>
            <a:br>
              <a:rPr lang="en-IN" sz="4000" dirty="0"/>
            </a:br>
            <a:endParaRPr lang="en-IN" sz="4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D5EAC5-3C32-812C-7DFD-CCB0F09D2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753660"/>
              </p:ext>
            </p:extLst>
          </p:nvPr>
        </p:nvGraphicFramePr>
        <p:xfrm>
          <a:off x="1049482" y="1781527"/>
          <a:ext cx="9740112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9129">
                  <a:extLst>
                    <a:ext uri="{9D8B030D-6E8A-4147-A177-3AD203B41FA5}">
                      <a16:colId xmlns:a16="http://schemas.microsoft.com/office/drawing/2014/main" val="945315409"/>
                    </a:ext>
                  </a:extLst>
                </a:gridCol>
                <a:gridCol w="1799129">
                  <a:extLst>
                    <a:ext uri="{9D8B030D-6E8A-4147-A177-3AD203B41FA5}">
                      <a16:colId xmlns:a16="http://schemas.microsoft.com/office/drawing/2014/main" val="239284286"/>
                    </a:ext>
                  </a:extLst>
                </a:gridCol>
                <a:gridCol w="1799129">
                  <a:extLst>
                    <a:ext uri="{9D8B030D-6E8A-4147-A177-3AD203B41FA5}">
                      <a16:colId xmlns:a16="http://schemas.microsoft.com/office/drawing/2014/main" val="3159368841"/>
                    </a:ext>
                  </a:extLst>
                </a:gridCol>
                <a:gridCol w="1799129">
                  <a:extLst>
                    <a:ext uri="{9D8B030D-6E8A-4147-A177-3AD203B41FA5}">
                      <a16:colId xmlns:a16="http://schemas.microsoft.com/office/drawing/2014/main" val="123040994"/>
                    </a:ext>
                  </a:extLst>
                </a:gridCol>
                <a:gridCol w="2543596">
                  <a:extLst>
                    <a:ext uri="{9D8B030D-6E8A-4147-A177-3AD203B41FA5}">
                      <a16:colId xmlns:a16="http://schemas.microsoft.com/office/drawing/2014/main" val="33046319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2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Model</a:t>
                      </a:r>
                      <a:endParaRPr lang="en-IN" sz="12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R2 Score</a:t>
                      </a:r>
                      <a:endParaRPr lang="en-IN" sz="12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MAE</a:t>
                      </a:r>
                      <a:endParaRPr lang="en-IN" sz="12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RMSE</a:t>
                      </a:r>
                      <a:endParaRPr lang="en-IN" sz="12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3777122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0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GRU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0.710235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1.042225e+06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>
                          <a:effectLst/>
                        </a:rPr>
                        <a:t>1.728577e+06</a:t>
                      </a:r>
                      <a:endParaRPr lang="en-IN" sz="10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20064842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1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LSTM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0.560214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1.341490e+06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2.129545e+06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886121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E34F14A-89C5-8717-3C86-1E92C3AB7A62}"/>
              </a:ext>
            </a:extLst>
          </p:cNvPr>
          <p:cNvSpPr txBox="1"/>
          <p:nvPr/>
        </p:nvSpPr>
        <p:spPr>
          <a:xfrm>
            <a:off x="956330" y="2797397"/>
            <a:ext cx="99060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b="1" dirty="0">
                <a:solidFill>
                  <a:schemeClr val="tx1"/>
                </a:solidFill>
                <a:effectLst/>
                <a:latin typeface="+mn-lt"/>
              </a:rPr>
              <a:t>Insight and Analysis:</a:t>
            </a:r>
          </a:p>
          <a:p>
            <a:pPr>
              <a:lnSpc>
                <a:spcPct val="100000"/>
              </a:lnSpc>
              <a:buNone/>
            </a:pPr>
            <a:endParaRPr lang="en-IN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GRU explains about 69.8% of the variation in aggregate daily sales and has substantially lower MAE/RMSE.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 So for the deep-learning section, GRU is currently our best model.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 Latest LSTM run produced R² 0.5411, slightly different from the earlier 0.5581.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 That's normal because neural-network initialization and training are stochastic.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 For the final comparison, use the results from the same run/setup as the GRU comparison—so keeping 0.5411.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267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522C7-408B-218C-48B2-0AD85AC90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A069D9C-E8FC-604A-C427-2FB7CE4B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8532" y="6088638"/>
            <a:ext cx="1600200" cy="365125"/>
          </a:xfrm>
        </p:spPr>
        <p:txBody>
          <a:bodyPr/>
          <a:lstStyle/>
          <a:p>
            <a:fld id="{B8C19599-5C3B-4F2D-87C2-0D1ED6161DC1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F734AD3-6CEA-AF6D-4CED-E8585D992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3812" y="6088639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370F77F-6E77-FC16-2146-3B829271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1753" y="6057467"/>
            <a:ext cx="551167" cy="365125"/>
          </a:xfrm>
        </p:spPr>
        <p:txBody>
          <a:bodyPr/>
          <a:lstStyle/>
          <a:p>
            <a:fld id="{CF1C4BEA-143A-4242-9652-D7EF89A3B181}" type="slidenum">
              <a:rPr lang="en-IN" smtClean="0"/>
              <a:t>13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548F19-7AA4-DF63-3593-D294930AC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60" y="115521"/>
            <a:ext cx="10515600" cy="863906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>
                <a:effectLst/>
              </a:rPr>
              <a:t>Actual Sales vs LSTM vs GRU Forecast</a:t>
            </a:r>
            <a:br>
              <a:rPr lang="en-IN" sz="4000" dirty="0">
                <a:effectLst/>
              </a:rPr>
            </a:br>
            <a:br>
              <a:rPr lang="en-IN" sz="4000" b="1" dirty="0"/>
            </a:br>
            <a:br>
              <a:rPr lang="en-IN" sz="4000" dirty="0"/>
            </a:br>
            <a:endParaRPr lang="en-IN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EB2A54-CBD3-ABDD-FF7A-BAEF4ED1C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46" y="979427"/>
            <a:ext cx="9985664" cy="294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27BF8F-130F-CF36-82FA-D5CB2EA5F67F}"/>
              </a:ext>
            </a:extLst>
          </p:cNvPr>
          <p:cNvSpPr txBox="1"/>
          <p:nvPr/>
        </p:nvSpPr>
        <p:spPr>
          <a:xfrm>
            <a:off x="875139" y="4034512"/>
            <a:ext cx="100872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dirty="0">
                <a:solidFill>
                  <a:schemeClr val="tx1"/>
                </a:solidFill>
                <a:effectLst/>
                <a:latin typeface="+mn-lt"/>
              </a:rPr>
              <a:t>LSTM vs GRU Forecast Analysis: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Both LSTM and GRU capture the overall sales pattern, including the recurring sharp drops in sales.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GRU generally follows the actual sales curve more closely and captures several peaks better than LSTM.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LSTM produces smoother predictions, which can lead to underestimation of sudden high-sales periods. </a:t>
            </a:r>
          </a:p>
        </p:txBody>
      </p:sp>
    </p:spTree>
    <p:extLst>
      <p:ext uri="{BB962C8B-B14F-4D97-AF65-F5344CB8AC3E}">
        <p14:creationId xmlns:p14="http://schemas.microsoft.com/office/powerpoint/2010/main" val="3593174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6B406-9A92-737B-917F-F052CC645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8EEC074-191E-4019-1B72-D9B65CC1E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4185-D4ED-4BA3-BEFE-8DD84A413E4E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A285E77-FF0E-D5C2-8DF1-03FBA8A8F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AE40659-566E-0D8E-6E79-E37D1FF6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14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2CB4C51-CC66-1AC3-E09A-2FA0B3FA8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120"/>
            <a:ext cx="10515600" cy="86390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 ARIMA- Forecast</a:t>
            </a:r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endParaRPr lang="en-IN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5AF8DD-6E23-0A67-8FBF-21BD0DD61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80" y="1080027"/>
            <a:ext cx="10515600" cy="3033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AEABD3-E185-E827-E793-F20250C03AFF}"/>
              </a:ext>
            </a:extLst>
          </p:cNvPr>
          <p:cNvSpPr txBox="1"/>
          <p:nvPr/>
        </p:nvSpPr>
        <p:spPr>
          <a:xfrm>
            <a:off x="549580" y="4398046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Insights: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ARIMA captures the basic sales pattern but cannot model the strong weekly seasonality and sudden fluctuations effectively, indicating the need for a seasonal model such as SARIMA.</a:t>
            </a:r>
          </a:p>
        </p:txBody>
      </p:sp>
    </p:spTree>
    <p:extLst>
      <p:ext uri="{BB962C8B-B14F-4D97-AF65-F5344CB8AC3E}">
        <p14:creationId xmlns:p14="http://schemas.microsoft.com/office/powerpoint/2010/main" val="369900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8D8F6-9F8B-53EE-9761-CA2FC376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5B9B86C-EB6C-6F3E-052B-CA4120A54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F104-3EF9-4A2B-AF9C-3AC50FB6B474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0F4AFF8-7DE4-8BB9-3AC1-48C5A680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096061F-20D6-5A93-891C-6972B555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15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E7BA8DA-279D-A69E-3236-5D62B82F5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00" y="0"/>
            <a:ext cx="10515600" cy="86390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 </a:t>
            </a:r>
            <a:br>
              <a:rPr lang="en-IN" sz="4000" b="1" dirty="0"/>
            </a:br>
            <a:r>
              <a:rPr lang="en-IN" sz="4000" b="1" dirty="0">
                <a:effectLst/>
              </a:rPr>
              <a:t>ARIMA Forecast Residual Distribution</a:t>
            </a:r>
            <a:br>
              <a:rPr lang="en-IN" sz="4000" dirty="0">
                <a:effectLst/>
              </a:rPr>
            </a:br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endParaRPr lang="en-IN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12E50-608E-D67C-A9BC-5F98B47F2A30}"/>
              </a:ext>
            </a:extLst>
          </p:cNvPr>
          <p:cNvSpPr txBox="1"/>
          <p:nvPr/>
        </p:nvSpPr>
        <p:spPr>
          <a:xfrm>
            <a:off x="6096000" y="1146196"/>
            <a:ext cx="49251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Insights: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The graph shows that ARIMA captures some of the repeating movement, but it struggles with the size of many peaks and drops.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An R² of about 0.226 means it explains only around 22.6% of the variation in the held-out aggregate daily sales.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 This isn't surprising because our earlier ACF showed a very strong 7-day cycle. Standard ARIMA doesn't explicitly include that seasonal component.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3E8E3-7752-88F6-DBCC-917A85D71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46" y="1146196"/>
            <a:ext cx="5527054" cy="377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54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3523D-675C-687B-9097-26CF1FFE6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643BDEA-BEE2-39E4-562F-8DB580710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28EA4-DF2C-4692-9033-32AAEF9D6650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C42A11B-AFBF-CCD7-6854-87761616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ABE779C-B643-B7B3-F161-6EF881F0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16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9828E9-1F34-DE4B-3EC8-4DE1C5C8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841"/>
            <a:ext cx="12192000" cy="863906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 </a:t>
            </a:r>
            <a:r>
              <a:rPr lang="en-IN" sz="4000" dirty="0">
                <a:effectLst/>
              </a:rPr>
              <a:t>A</a:t>
            </a:r>
            <a:br>
              <a:rPr lang="en-IN" sz="4000" dirty="0">
                <a:effectLst/>
              </a:rPr>
            </a:br>
            <a:br>
              <a:rPr lang="en-IN" sz="4000" dirty="0">
                <a:effectLst/>
              </a:rPr>
            </a:br>
            <a:r>
              <a:rPr lang="en-IN" sz="4000" dirty="0">
                <a:effectLst/>
              </a:rPr>
              <a:t>  </a:t>
            </a:r>
            <a:r>
              <a:rPr lang="en-IN" sz="4000" b="1" dirty="0">
                <a:effectLst/>
              </a:rPr>
              <a:t>Actual Sales vs ARIMA vs SARIMA Forecast</a:t>
            </a:r>
            <a:br>
              <a:rPr lang="en-IN" sz="4000" dirty="0">
                <a:effectLst/>
              </a:rPr>
            </a:br>
            <a:br>
              <a:rPr lang="en-IN" sz="4000" dirty="0">
                <a:effectLst/>
              </a:rPr>
            </a:br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endParaRPr lang="en-IN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4C19A6-6073-375E-632E-4D7EE7321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37" y="1080026"/>
            <a:ext cx="10983189" cy="31711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0CC5D8-6BB0-C8C1-F2BD-1B83538F07FF}"/>
              </a:ext>
            </a:extLst>
          </p:cNvPr>
          <p:cNvSpPr txBox="1"/>
          <p:nvPr/>
        </p:nvSpPr>
        <p:spPr>
          <a:xfrm>
            <a:off x="644238" y="4406476"/>
            <a:ext cx="109831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i="1" dirty="0"/>
              <a:t>Insights: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i="1" dirty="0"/>
              <a:t>SARIMA significantly outperforms ARIMA because incorporating the 7-day seasonal pattern improves sales forecasting accuracy.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623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043C6-363D-4388-1D99-542215C0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4BF5EBA-119E-C03B-1A95-5C51F475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E2EEB-9EE1-483A-ADFD-9D7D5AC25305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A30EFD4-0A7E-9CDE-0243-CB8F31C8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85EB129-7E1C-64B5-8BC5-84FCEE65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17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243BDB-A156-0192-E751-83EC76F7A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120"/>
            <a:ext cx="10906991" cy="863906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 </a:t>
            </a:r>
            <a:r>
              <a:rPr lang="en-IN" dirty="0">
                <a:effectLst/>
              </a:rPr>
              <a:t>A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r>
              <a:rPr lang="en-IN" dirty="0">
                <a:effectLst/>
              </a:rPr>
              <a:t>            </a:t>
            </a:r>
            <a:r>
              <a:rPr lang="en-IN" b="1" dirty="0">
                <a:effectLst/>
              </a:rPr>
              <a:t>ARIMA- SARIMA Comparison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endParaRPr lang="en-IN" sz="40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098ACD-83EE-0D95-B948-D22A846B6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419547"/>
              </p:ext>
            </p:extLst>
          </p:nvPr>
        </p:nvGraphicFramePr>
        <p:xfrm>
          <a:off x="1070264" y="1427683"/>
          <a:ext cx="9367551" cy="80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0312">
                  <a:extLst>
                    <a:ext uri="{9D8B030D-6E8A-4147-A177-3AD203B41FA5}">
                      <a16:colId xmlns:a16="http://schemas.microsoft.com/office/drawing/2014/main" val="648108824"/>
                    </a:ext>
                  </a:extLst>
                </a:gridCol>
                <a:gridCol w="1730312">
                  <a:extLst>
                    <a:ext uri="{9D8B030D-6E8A-4147-A177-3AD203B41FA5}">
                      <a16:colId xmlns:a16="http://schemas.microsoft.com/office/drawing/2014/main" val="901276689"/>
                    </a:ext>
                  </a:extLst>
                </a:gridCol>
                <a:gridCol w="1730312">
                  <a:extLst>
                    <a:ext uri="{9D8B030D-6E8A-4147-A177-3AD203B41FA5}">
                      <a16:colId xmlns:a16="http://schemas.microsoft.com/office/drawing/2014/main" val="515994908"/>
                    </a:ext>
                  </a:extLst>
                </a:gridCol>
                <a:gridCol w="1730312">
                  <a:extLst>
                    <a:ext uri="{9D8B030D-6E8A-4147-A177-3AD203B41FA5}">
                      <a16:colId xmlns:a16="http://schemas.microsoft.com/office/drawing/2014/main" val="699275235"/>
                    </a:ext>
                  </a:extLst>
                </a:gridCol>
                <a:gridCol w="2446303">
                  <a:extLst>
                    <a:ext uri="{9D8B030D-6E8A-4147-A177-3AD203B41FA5}">
                      <a16:colId xmlns:a16="http://schemas.microsoft.com/office/drawing/2014/main" val="210361659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2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Model</a:t>
                      </a:r>
                      <a:endParaRPr lang="en-IN" sz="12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R2 Score</a:t>
                      </a:r>
                      <a:endParaRPr lang="en-IN" sz="12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MAE</a:t>
                      </a:r>
                      <a:endParaRPr lang="en-IN" sz="12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RMSE</a:t>
                      </a:r>
                      <a:endParaRPr lang="en-IN" sz="12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8892948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1">
                          <a:effectLst/>
                        </a:rPr>
                        <a:t>0</a:t>
                      </a:r>
                      <a:endParaRPr lang="en-IN" sz="10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SARIMA(2,0,4)(1,1,2,7)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1">
                          <a:effectLst/>
                        </a:rPr>
                        <a:t>0.618410</a:t>
                      </a:r>
                      <a:endParaRPr lang="en-IN" sz="10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1">
                          <a:effectLst/>
                        </a:rPr>
                        <a:t>1.355833e+06</a:t>
                      </a:r>
                      <a:endParaRPr lang="en-IN" sz="10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1.994556e+06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6464541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1">
                          <a:effectLst/>
                        </a:rPr>
                        <a:t>1</a:t>
                      </a:r>
                      <a:endParaRPr lang="en-IN" sz="10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1">
                          <a:effectLst/>
                        </a:rPr>
                        <a:t>ARIMA(2,0,4)</a:t>
                      </a:r>
                      <a:endParaRPr lang="en-IN" sz="10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1">
                          <a:effectLst/>
                        </a:rPr>
                        <a:t>0.225509</a:t>
                      </a:r>
                      <a:endParaRPr lang="en-IN" sz="10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1">
                          <a:effectLst/>
                        </a:rPr>
                        <a:t>2.250765e+06</a:t>
                      </a:r>
                      <a:endParaRPr lang="en-IN" sz="10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2.841551e+06</a:t>
                      </a:r>
                      <a:endParaRPr lang="en-IN" sz="10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4863492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73624F-03C4-F212-69D3-8E957821994B}"/>
              </a:ext>
            </a:extLst>
          </p:cNvPr>
          <p:cNvSpPr txBox="1"/>
          <p:nvPr/>
        </p:nvSpPr>
        <p:spPr>
          <a:xfrm>
            <a:off x="838200" y="2505012"/>
            <a:ext cx="990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ARIMA vs SARIMA Analysis: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SARIMA significantly outperformed ARIMA for aggregate daily sales forecasting.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ARIMA achieved an R² score of 0.2255, whereas SARIMA improved the R² to 0.6184 while substantially reducing MAE and RMSE.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This improvement indicates that the weekly seasonal pattern identified through ACF analysis is an important component of the sales time series.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sz="1800" b="0" dirty="0">
                <a:solidFill>
                  <a:schemeClr val="tx1"/>
                </a:solidFill>
                <a:effectLst/>
                <a:latin typeface="+mn-lt"/>
              </a:rPr>
              <a:t>Therefore, SARIMA was selected as the better statistical forecasting model.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20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AA39-271E-97FF-2DEF-B5715292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B82D7EF-4C7B-673E-A1E8-717179FD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373D-C597-466D-9FEB-7E478064AD54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596993F-91C3-697E-676D-69D8FD69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C032BD3-8191-0E7F-8041-CC8CDB24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18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C1F4B8B-7A06-2F27-3389-966259938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120"/>
            <a:ext cx="10906991" cy="86390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 </a:t>
            </a:r>
            <a:r>
              <a:rPr lang="en-IN" sz="4000" b="1" dirty="0">
                <a:effectLst/>
              </a:rPr>
              <a:t>A</a:t>
            </a:r>
            <a:br>
              <a:rPr lang="en-IN" sz="4000" b="1" dirty="0">
                <a:effectLst/>
              </a:rPr>
            </a:br>
            <a:br>
              <a:rPr lang="en-IN" sz="4000" b="1" dirty="0">
                <a:effectLst/>
              </a:rPr>
            </a:br>
            <a:r>
              <a:rPr lang="en-IN" sz="4000" b="1" dirty="0">
                <a:effectLst/>
              </a:rPr>
              <a:t>            </a:t>
            </a:r>
            <a:br>
              <a:rPr lang="en-IN" sz="4000" b="1" dirty="0">
                <a:effectLst/>
              </a:rPr>
            </a:br>
            <a:r>
              <a:rPr lang="en-IN" sz="4000" b="1" dirty="0">
                <a:effectLst/>
              </a:rPr>
              <a:t>                    </a:t>
            </a:r>
            <a:br>
              <a:rPr lang="en-IN" sz="4000" b="1" dirty="0">
                <a:effectLst/>
              </a:rPr>
            </a:br>
            <a:r>
              <a:rPr lang="en-IN" sz="4000" b="1" dirty="0">
                <a:effectLst/>
              </a:rPr>
              <a:t>TABULAR Model Comparison</a:t>
            </a:r>
            <a:br>
              <a:rPr lang="en-IN" sz="4000" b="1" dirty="0">
                <a:effectLst/>
              </a:rPr>
            </a:br>
            <a:br>
              <a:rPr lang="en-IN" sz="4000" b="1" dirty="0">
                <a:effectLst/>
              </a:rPr>
            </a:br>
            <a:br>
              <a:rPr lang="en-IN" sz="4000" b="1" dirty="0">
                <a:effectLst/>
              </a:rPr>
            </a:br>
            <a:br>
              <a:rPr lang="en-IN" sz="4000" b="1" dirty="0">
                <a:effectLst/>
              </a:rPr>
            </a:br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endParaRPr lang="en-IN" sz="40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793527-CB2F-A07A-0AD9-DDA58D5D1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975229"/>
              </p:ext>
            </p:extLst>
          </p:nvPr>
        </p:nvGraphicFramePr>
        <p:xfrm>
          <a:off x="964623" y="1295368"/>
          <a:ext cx="9906001" cy="3255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3332">
                  <a:extLst>
                    <a:ext uri="{9D8B030D-6E8A-4147-A177-3AD203B41FA5}">
                      <a16:colId xmlns:a16="http://schemas.microsoft.com/office/drawing/2014/main" val="1261978960"/>
                    </a:ext>
                  </a:extLst>
                </a:gridCol>
                <a:gridCol w="2286210">
                  <a:extLst>
                    <a:ext uri="{9D8B030D-6E8A-4147-A177-3AD203B41FA5}">
                      <a16:colId xmlns:a16="http://schemas.microsoft.com/office/drawing/2014/main" val="1182772229"/>
                    </a:ext>
                  </a:extLst>
                </a:gridCol>
                <a:gridCol w="1829771">
                  <a:extLst>
                    <a:ext uri="{9D8B030D-6E8A-4147-A177-3AD203B41FA5}">
                      <a16:colId xmlns:a16="http://schemas.microsoft.com/office/drawing/2014/main" val="2853925162"/>
                    </a:ext>
                  </a:extLst>
                </a:gridCol>
                <a:gridCol w="1829771">
                  <a:extLst>
                    <a:ext uri="{9D8B030D-6E8A-4147-A177-3AD203B41FA5}">
                      <a16:colId xmlns:a16="http://schemas.microsoft.com/office/drawing/2014/main" val="729061767"/>
                    </a:ext>
                  </a:extLst>
                </a:gridCol>
                <a:gridCol w="2586917">
                  <a:extLst>
                    <a:ext uri="{9D8B030D-6E8A-4147-A177-3AD203B41FA5}">
                      <a16:colId xmlns:a16="http://schemas.microsoft.com/office/drawing/2014/main" val="2362067785"/>
                    </a:ext>
                  </a:extLst>
                </a:gridCol>
              </a:tblGrid>
              <a:tr h="9806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  <a:latin typeface="Segoe WPC"/>
                        </a:rPr>
                        <a:t>Serial No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Model</a:t>
                      </a:r>
                      <a:endParaRPr lang="en-IN" sz="12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R2 Score</a:t>
                      </a:r>
                      <a:endParaRPr lang="en-IN" sz="12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MAE</a:t>
                      </a:r>
                      <a:endParaRPr lang="en-IN" sz="12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RMSE</a:t>
                      </a:r>
                      <a:endParaRPr lang="en-IN" sz="12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548826"/>
                  </a:ext>
                </a:extLst>
              </a:tr>
              <a:tr h="568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0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GRU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0.710235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1.042225e+06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1.728577e+06</a:t>
                      </a:r>
                      <a:endParaRPr lang="en-IN" sz="1100" b="1" i="0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317844"/>
                  </a:ext>
                </a:extLst>
              </a:tr>
              <a:tr h="568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1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SARIMA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0.610190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1.367175e+06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2.004900e+06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367025"/>
                  </a:ext>
                </a:extLst>
              </a:tr>
              <a:tr h="568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2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LSTM</a:t>
                      </a:r>
                      <a:endParaRPr lang="en-IN" sz="1100" b="1" i="0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0.560214</a:t>
                      </a:r>
                      <a:endParaRPr lang="en-IN" sz="1100" b="1" i="0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1.341490e+06</a:t>
                      </a:r>
                      <a:endParaRPr lang="en-IN" sz="1100" b="1" i="0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2.129545e+06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200970"/>
                  </a:ext>
                </a:extLst>
              </a:tr>
              <a:tr h="568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3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ARIMA</a:t>
                      </a:r>
                      <a:endParaRPr lang="en-IN" sz="1100" b="1" i="0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0.210973</a:t>
                      </a:r>
                      <a:endParaRPr lang="en-IN" sz="1100" b="1" i="0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2.260768e+06</a:t>
                      </a:r>
                      <a:endParaRPr lang="en-IN" sz="1100" b="1" i="0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2.852411e+06</a:t>
                      </a:r>
                      <a:endParaRPr lang="en-IN" sz="1100" b="1" i="0" cap="none" spc="50" dirty="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807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82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B12D7-DC82-02DB-4B8C-FBFA7AB4B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A27E2F9-2954-25CE-781D-B7791A557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57D5B-B3B1-43AF-8864-F59475994A32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E972429-C553-F6FD-4029-BA6D4E4F1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57574FE-7F7A-3AEC-C552-7218979E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19</a:t>
            </a:fld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B7540E-8445-CD17-DFC4-B342787B6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120"/>
            <a:ext cx="10906991" cy="863906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 </a:t>
            </a:r>
            <a:r>
              <a:rPr lang="en-IN" b="1" dirty="0">
                <a:effectLst/>
              </a:rPr>
              <a:t>A</a:t>
            </a:r>
            <a:br>
              <a:rPr lang="en-IN" b="1" dirty="0">
                <a:effectLst/>
              </a:rPr>
            </a:br>
            <a:br>
              <a:rPr lang="en-IN" b="1" dirty="0">
                <a:effectLst/>
              </a:rPr>
            </a:br>
            <a:r>
              <a:rPr lang="en-IN" b="1" dirty="0">
                <a:effectLst/>
              </a:rPr>
              <a:t>            </a:t>
            </a:r>
            <a:br>
              <a:rPr lang="en-IN" b="1" dirty="0">
                <a:effectLst/>
              </a:rPr>
            </a:br>
            <a:r>
              <a:rPr lang="en-IN" b="1" dirty="0">
                <a:effectLst/>
              </a:rPr>
              <a:t>                    </a:t>
            </a:r>
            <a:br>
              <a:rPr lang="en-IN" b="1" dirty="0">
                <a:effectLst/>
              </a:rPr>
            </a:br>
            <a:r>
              <a:rPr lang="en-IN" b="1" dirty="0">
                <a:effectLst/>
              </a:rPr>
              <a:t>   Time-Series Forecasting Model Comparison</a:t>
            </a:r>
            <a:br>
              <a:rPr lang="en-IN" b="1" dirty="0">
                <a:effectLst/>
              </a:rPr>
            </a:br>
            <a:br>
              <a:rPr lang="en-IN" b="1" dirty="0">
                <a:effectLst/>
              </a:rPr>
            </a:br>
            <a:br>
              <a:rPr lang="en-IN" b="1" dirty="0">
                <a:effectLst/>
              </a:rPr>
            </a:br>
            <a:br>
              <a:rPr lang="en-IN" b="1" dirty="0">
                <a:effectLst/>
              </a:rPr>
            </a:br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endParaRPr lang="en-IN" sz="4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640DE9-DF81-3E7F-550A-D139E551E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7" y="1315316"/>
            <a:ext cx="5494194" cy="42473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4767F7-0727-A182-2F33-228B467F5558}"/>
              </a:ext>
            </a:extLst>
          </p:cNvPr>
          <p:cNvSpPr txBox="1"/>
          <p:nvPr/>
        </p:nvSpPr>
        <p:spPr>
          <a:xfrm>
            <a:off x="6274377" y="1315315"/>
            <a:ext cx="54708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Insights: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dirty="0"/>
              <a:t>GRU performs best with the highest R² ≈ 0.71, showing the strongest forecasting accuracy.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dirty="0"/>
              <a:t>SARIMA ranks second (R² ≈ 0.61), effectively capturing weekly seasonality.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dirty="0"/>
              <a:t>LSTM achieves R² ≈ 0.56, but performs below GRU.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dirty="0"/>
              <a:t>ARIMA has the lowest R² ≈ 0.21, indicating difficulty capturing complex seasonal patterns.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/>
              <a:t>GRU has the highest R² (0.6981) and lowest RMSE (1.764M), so it is currently the best aggregate time-series forecasting model.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8459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3D97A-5F2B-F9D3-5B8D-37B16369B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DD17618F-2C7F-CDFB-BAFB-D573CFE5D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0486-205D-4E7C-A9D9-A23DEC13A9DA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2DC8248-F5F0-CCAC-0D3E-66BCF38D5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 dirty="0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5C3899B-E73F-3F67-DD0A-D54805D0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20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085CA-9169-E2D4-DE7D-3B32C1B8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459"/>
            <a:ext cx="12192000" cy="571501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effectLst/>
              </a:rPr>
              <a:t>              </a:t>
            </a:r>
            <a:br>
              <a:rPr lang="en-IN" sz="4000" b="1" dirty="0">
                <a:effectLst/>
              </a:rPr>
            </a:br>
            <a:r>
              <a:rPr lang="en-IN" sz="4000" b="1" dirty="0">
                <a:effectLst/>
              </a:rPr>
              <a:t>    Per-Store Daily Sales View</a:t>
            </a:r>
            <a:br>
              <a:rPr lang="en-IN" sz="4000" dirty="0">
                <a:effectLst/>
              </a:rPr>
            </a:br>
            <a:endParaRPr lang="en-IN" sz="4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3509FF-5AB5-874F-FCE6-37499F053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36" y="935182"/>
            <a:ext cx="11544298" cy="28984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75FA0E-7DEF-8DA3-F2DB-0E7340EF53C5}"/>
              </a:ext>
            </a:extLst>
          </p:cNvPr>
          <p:cNvSpPr txBox="1"/>
          <p:nvPr/>
        </p:nvSpPr>
        <p:spPr>
          <a:xfrm>
            <a:off x="301337" y="3968741"/>
            <a:ext cx="11544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i="1" dirty="0"/>
              <a:t>Insights:</a:t>
            </a:r>
          </a:p>
          <a:p>
            <a:pPr>
              <a:buNone/>
            </a:pPr>
            <a:endParaRPr lang="en-IN" i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i="1" dirty="0"/>
              <a:t>Store-level analysis reveals substantial variation between stores, highlighting the importance of considering individual store characteristics when predicting sales.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8165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7ECB-DD4D-5A21-8C7E-A06A2EDB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C02CBE9-7087-E194-BFBD-E8BD9071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E02E-45B6-4E7B-A56E-0285983C0C0D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812CDCF-DB1A-3B44-456F-91B79975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C8555BE-8AF9-A1E9-9F91-7AB96D1B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21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156E43-7075-8A3D-1965-E8790ED73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800100"/>
          </a:xfrm>
        </p:spPr>
        <p:txBody>
          <a:bodyPr>
            <a:noAutofit/>
          </a:bodyPr>
          <a:lstStyle/>
          <a:p>
            <a:r>
              <a:rPr lang="en-IN" sz="4000" b="1" dirty="0">
                <a:effectLst/>
              </a:rPr>
              <a:t>              </a:t>
            </a:r>
            <a:br>
              <a:rPr lang="en-IN" sz="4000" b="1" dirty="0">
                <a:effectLst/>
              </a:rPr>
            </a:br>
            <a:r>
              <a:rPr lang="en-IN" sz="4000" b="1" dirty="0">
                <a:effectLst/>
              </a:rPr>
              <a:t>       Store Sales Forecasting Dashboard…</a:t>
            </a:r>
            <a:br>
              <a:rPr lang="en-IN" sz="4000" dirty="0">
                <a:effectLst/>
              </a:rPr>
            </a:br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9E466B-D4DC-D391-B28A-6C24F5429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20" y="921763"/>
            <a:ext cx="10297391" cy="501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59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3C42E-D590-391B-2A75-6900B9DC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8EB5185-92C5-8875-F29B-8EA62F335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30222-25BA-49B3-A38C-B8D436E833C6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7EB050F-838F-3735-8BDA-0369D51AF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A7C5C3B-06CA-2189-AE02-D281AFBD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22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C2A76B-3D53-6BD0-0925-BE0F3912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838310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effectLst/>
              </a:rPr>
              <a:t>              </a:t>
            </a:r>
            <a:br>
              <a:rPr lang="en-IN" sz="4000" b="1" dirty="0">
                <a:effectLst/>
              </a:rPr>
            </a:br>
            <a:r>
              <a:rPr lang="en-IN" sz="4000" b="1" dirty="0">
                <a:effectLst/>
              </a:rPr>
              <a:t> </a:t>
            </a:r>
            <a:br>
              <a:rPr lang="en-IN" sz="4000" b="1" dirty="0">
                <a:effectLst/>
              </a:rPr>
            </a:br>
            <a:r>
              <a:rPr lang="en-IN" sz="4000" b="1" dirty="0">
                <a:effectLst/>
              </a:rPr>
              <a:t>        Store Sales Forecasting Dashboard…</a:t>
            </a:r>
            <a:br>
              <a:rPr lang="en-IN" sz="4000" dirty="0">
                <a:effectLst/>
              </a:rPr>
            </a:br>
            <a:br>
              <a:rPr lang="en-IN" sz="4000" dirty="0">
                <a:effectLst/>
              </a:rPr>
            </a:br>
            <a:endParaRPr lang="en-IN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0873E9-2A75-8848-531E-3AE056507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55" y="838310"/>
            <a:ext cx="10349345" cy="487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90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B9679-20C9-1759-1428-06B652FA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950BC586-9E74-A999-2F76-3E144B040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F1DCA-ED3D-4752-9C6F-8E9225CCE82B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67C910F-4114-9EA7-8D77-121266883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8B0C82E-431B-6020-A3F8-A4B38DAC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23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EAC0B4-C387-2607-7B61-A07043556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846" y="228599"/>
            <a:ext cx="9905998" cy="57150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/>
              </a:rPr>
              <a:t>              </a:t>
            </a:r>
            <a:br>
              <a:rPr lang="en-IN" b="1" dirty="0">
                <a:effectLst/>
              </a:rPr>
            </a:br>
            <a:r>
              <a:rPr lang="en-IN" b="1" dirty="0">
                <a:effectLst/>
              </a:rPr>
              <a:t>                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E1D8B87B-DA68-6EC7-8FDE-762785ABC3F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9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1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/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IN" sz="4000" dirty="0"/>
              <a:t>                     </a:t>
            </a:r>
            <a:br>
              <a:rPr lang="en-IN" sz="4000" dirty="0"/>
            </a:br>
            <a:r>
              <a:rPr lang="en-IN" sz="4000" dirty="0"/>
              <a:t>       Store Sales Forecasting Dashboard…</a:t>
            </a:r>
            <a:br>
              <a:rPr lang="en-IN" sz="4000" dirty="0"/>
            </a:br>
            <a:endParaRPr lang="en-IN" sz="4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F60147-C7D8-588C-F9A4-CCE073257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55" y="1104900"/>
            <a:ext cx="10744200" cy="462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81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8CD6-1158-1D18-4E70-14B0BDCC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A6CBF3F-3878-939C-B4ED-2BA7586C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6708F-D6D6-43C1-926C-69D5260F0CBD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DB21ABA7-A13A-E852-9506-A2B9B3A1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7330BDD-B0B0-39D1-C91C-E2C35C853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24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AFB50D-CAF6-42CE-ED85-D0AAE85E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846" y="228599"/>
            <a:ext cx="9905998" cy="57150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IN" b="1" dirty="0">
                <a:effectLst/>
              </a:rPr>
              <a:t>              </a:t>
            </a:r>
            <a:br>
              <a:rPr lang="en-IN" b="1" dirty="0">
                <a:effectLst/>
              </a:rPr>
            </a:br>
            <a:r>
              <a:rPr lang="en-IN" b="1" dirty="0">
                <a:effectLst/>
              </a:rPr>
              <a:t>                </a:t>
            </a:r>
            <a:br>
              <a:rPr lang="en-IN" b="1" dirty="0">
                <a:effectLst/>
              </a:rPr>
            </a:br>
            <a:endParaRPr lang="en-IN" b="1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1BC2DA-6F03-8906-F300-FB13291CCF0C}"/>
              </a:ext>
            </a:extLst>
          </p:cNvPr>
          <p:cNvSpPr txBox="1"/>
          <p:nvPr/>
        </p:nvSpPr>
        <p:spPr>
          <a:xfrm>
            <a:off x="0" y="0"/>
            <a:ext cx="12191999" cy="7634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3200" b="1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/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4000" dirty="0"/>
              <a:t>Store Sales Forecasting Dashboard…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107E9B-AE6F-AD2E-FA42-965FC13BA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91" y="916964"/>
            <a:ext cx="10491353" cy="492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9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E503E-C0BC-7AE2-7707-1D8B3063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D48FDFAC-FC41-6FC9-D364-87B3411D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237D-DB0C-4A9B-9D66-FA18D64F9730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7D879D7-FACD-912E-5131-611E2A22C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D6D4EF9-A18D-276E-7DDF-4A2D4C5C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25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2A01E-CD11-A781-E5C1-7C9E62621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82" y="943395"/>
            <a:ext cx="10474036" cy="4971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045CBC-2972-AE30-158B-02CDB1D8D71C}"/>
              </a:ext>
            </a:extLst>
          </p:cNvPr>
          <p:cNvSpPr txBox="1"/>
          <p:nvPr/>
        </p:nvSpPr>
        <p:spPr>
          <a:xfrm>
            <a:off x="0" y="0"/>
            <a:ext cx="12191999" cy="7634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3200" b="1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/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4000" dirty="0"/>
              <a:t>    Store Sales Forecasting Dashboard…</a:t>
            </a:r>
          </a:p>
        </p:txBody>
      </p:sp>
    </p:spTree>
    <p:extLst>
      <p:ext uri="{BB962C8B-B14F-4D97-AF65-F5344CB8AC3E}">
        <p14:creationId xmlns:p14="http://schemas.microsoft.com/office/powerpoint/2010/main" val="1729272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EA55-FE4F-1999-642A-6D5090A7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44ADC99-A148-A2DF-3B4E-E2BC7BDC4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12B5-83FC-4B6C-B852-4D08ADCD7498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C0E438E-6143-92CC-9B29-9665763E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0A14F8D-09D9-5D52-8F51-D502F4C4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26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F8711-A334-B207-61E7-6209F8974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91" y="918636"/>
            <a:ext cx="10629900" cy="48461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7C1DB3-422C-ED51-F0D9-1C201A591DD1}"/>
              </a:ext>
            </a:extLst>
          </p:cNvPr>
          <p:cNvSpPr txBox="1"/>
          <p:nvPr/>
        </p:nvSpPr>
        <p:spPr>
          <a:xfrm>
            <a:off x="0" y="0"/>
            <a:ext cx="12191999" cy="7634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3200" b="1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/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4000" dirty="0"/>
              <a:t>    Store Sales Forecasting Dashboard…</a:t>
            </a:r>
          </a:p>
        </p:txBody>
      </p:sp>
    </p:spTree>
    <p:extLst>
      <p:ext uri="{BB962C8B-B14F-4D97-AF65-F5344CB8AC3E}">
        <p14:creationId xmlns:p14="http://schemas.microsoft.com/office/powerpoint/2010/main" val="2323469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74FD4-AF05-8DD5-1820-ACDF807A7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24B5A60-A98C-6CA8-D81B-20566A0E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2498-9B3D-4600-81CB-1063DE304B39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7260E67-EF0D-A206-9E7F-5FBB3C99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7612" y="5883275"/>
            <a:ext cx="7543800" cy="365125"/>
          </a:xfrm>
        </p:spPr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EE4E7EC-55DB-8F11-09FB-C707C34B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27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1D4FB-1088-D6B1-E66C-EDDD66E6F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90" y="1077168"/>
            <a:ext cx="10754592" cy="47036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2DB4C6-5DB4-168F-3AEF-38BA984CBD3D}"/>
              </a:ext>
            </a:extLst>
          </p:cNvPr>
          <p:cNvSpPr txBox="1"/>
          <p:nvPr/>
        </p:nvSpPr>
        <p:spPr>
          <a:xfrm>
            <a:off x="0" y="0"/>
            <a:ext cx="12191999" cy="7634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3200" b="1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/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4000" dirty="0"/>
              <a:t>    Store Sales Forecasting Dashboard…</a:t>
            </a:r>
          </a:p>
        </p:txBody>
      </p:sp>
    </p:spTree>
    <p:extLst>
      <p:ext uri="{BB962C8B-B14F-4D97-AF65-F5344CB8AC3E}">
        <p14:creationId xmlns:p14="http://schemas.microsoft.com/office/powerpoint/2010/main" val="314903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B1D6-31F2-F7CB-F2EC-A3AF2F6B3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2EDC06-7D9A-A2FA-B050-4FC89851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9592"/>
            <a:ext cx="12192000" cy="945023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/>
            </a:br>
            <a:r>
              <a:rPr lang="en-IN" sz="4000" b="1" dirty="0"/>
              <a:t>Final Recommendation</a:t>
            </a:r>
            <a:br>
              <a:rPr lang="en-IN" sz="4000" b="1" dirty="0"/>
            </a:br>
            <a:endParaRPr lang="en-IN" sz="4000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F29CFA3-C827-B1D8-BFB2-A94133E70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8F226-6771-4609-A5F7-6D02EB114B4E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4D9E31C-BECE-06B9-43BA-678BE687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5A21882-C014-EB4A-0F4A-17E56ACE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28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23D65A-82D7-8C82-DBEE-C6134559C56E}"/>
              </a:ext>
            </a:extLst>
          </p:cNvPr>
          <p:cNvSpPr txBox="1"/>
          <p:nvPr/>
        </p:nvSpPr>
        <p:spPr>
          <a:xfrm>
            <a:off x="1295400" y="1799498"/>
            <a:ext cx="9677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 </a:t>
            </a:r>
            <a:r>
              <a:rPr lang="en-IN" b="1" dirty="0"/>
              <a:t>GRU is recommended as the best one-step forecasting model</a:t>
            </a:r>
            <a:r>
              <a:rPr lang="en-IN" dirty="0"/>
              <a:t>, achieving the highest </a:t>
            </a:r>
            <a:r>
              <a:rPr lang="en-IN" b="1" dirty="0"/>
              <a:t>R² ≈ 0.71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Multivariate Multi-Step GRU</a:t>
            </a:r>
            <a:r>
              <a:rPr lang="en-IN" dirty="0"/>
              <a:t> is recommended for practical </a:t>
            </a:r>
            <a:r>
              <a:rPr lang="en-IN" b="1" dirty="0"/>
              <a:t>7-day sales forecasting</a:t>
            </a:r>
            <a:r>
              <a:rPr lang="en-IN" dirty="0"/>
              <a:t> using multiple sales-related features.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SARIMA</a:t>
            </a:r>
            <a:r>
              <a:rPr lang="en-IN" dirty="0"/>
              <a:t> can serve as a strong statistical baseline due to the clear weekly seasonality.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The </a:t>
            </a:r>
            <a:r>
              <a:rPr lang="en-IN" b="1" dirty="0"/>
              <a:t>Streamlit dashboard</a:t>
            </a:r>
            <a:r>
              <a:rPr lang="en-IN" dirty="0"/>
              <a:t> should be used to visualize sales trends, model performance, and future forecasts.</a:t>
            </a:r>
          </a:p>
        </p:txBody>
      </p:sp>
    </p:spTree>
    <p:extLst>
      <p:ext uri="{BB962C8B-B14F-4D97-AF65-F5344CB8AC3E}">
        <p14:creationId xmlns:p14="http://schemas.microsoft.com/office/powerpoint/2010/main" val="2227836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5BFD3-5AA2-A633-1B27-78849D58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92A47D-19CB-B92C-49A1-5FBD2F9B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1B76-588B-4919-831A-579FAA41F024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D0FA06D-A886-C013-B150-014C8FDE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87C23C1-7358-6B43-3450-B49F2E0F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29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90934-9AD0-3C50-63E4-6DA190BCC021}"/>
              </a:ext>
            </a:extLst>
          </p:cNvPr>
          <p:cNvSpPr txBox="1"/>
          <p:nvPr/>
        </p:nvSpPr>
        <p:spPr>
          <a:xfrm>
            <a:off x="1507943" y="1022752"/>
            <a:ext cx="928165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The project successfully developed an </a:t>
            </a:r>
            <a:r>
              <a:rPr lang="en-IN" b="1" dirty="0"/>
              <a:t>end-to-end Store Sales Forecasting system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Machine Learning, Time-Series, and Deep Learning models</a:t>
            </a:r>
            <a:r>
              <a:rPr lang="en-IN" dirty="0"/>
              <a:t> were implemented and compared.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GRU achieved the best one-step forecasting performance</a:t>
            </a:r>
            <a:r>
              <a:rPr lang="en-IN" dirty="0"/>
              <a:t>, while the </a:t>
            </a:r>
            <a:r>
              <a:rPr lang="en-IN" b="1" dirty="0"/>
              <a:t>Multivariate Multi-Step GRU</a:t>
            </a:r>
            <a:r>
              <a:rPr lang="en-IN" dirty="0"/>
              <a:t> enabled 7-day forecasting.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Sales showed strong </a:t>
            </a:r>
            <a:r>
              <a:rPr lang="en-IN" b="1" dirty="0"/>
              <a:t>weekly seasonality</a:t>
            </a:r>
            <a:r>
              <a:rPr lang="en-IN" dirty="0"/>
              <a:t>, which was effectively captured by SARIMA and GRU-based models.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The final </a:t>
            </a:r>
            <a:r>
              <a:rPr lang="en-IN" b="1" dirty="0"/>
              <a:t>Streamlit dashboard</a:t>
            </a:r>
            <a:r>
              <a:rPr lang="en-IN" dirty="0"/>
              <a:t> provides an interactive way to analyse sales, compare models, and visualize future forecasts.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B10A4C-4F4C-68C9-FA48-6B614F4B2E70}"/>
              </a:ext>
            </a:extLst>
          </p:cNvPr>
          <p:cNvSpPr txBox="1"/>
          <p:nvPr/>
        </p:nvSpPr>
        <p:spPr>
          <a:xfrm>
            <a:off x="0" y="255657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+mj-lt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94748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15647-CF3F-8CF0-87EA-92A9E571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915A3F3-400E-8641-9FF8-D5AB3912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4348-AAC6-4C5C-AC23-0CECE5841730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78EE91B-2218-F763-AE46-1E8C79E03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Nexthikes Stores Sales Forecasting - Project 6                 By Megha Parasher</a:t>
            </a:r>
            <a:endParaRPr lang="en-IN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BB79EC1-FCDD-5A9F-5520-8F0CD693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C4BEA-143A-4242-9652-D7EF89A3B181}" type="slidenum">
              <a:rPr lang="en-IN" smtClean="0"/>
              <a:t>30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A00A8-A00A-20D7-1E7C-6C49F8555C1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68" y="1254995"/>
            <a:ext cx="8881909" cy="43480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739279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3974</TotalTime>
  <Words>2059</Words>
  <Application>Microsoft Office PowerPoint</Application>
  <PresentationFormat>Widescreen</PresentationFormat>
  <Paragraphs>283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Century Gothic</vt:lpstr>
      <vt:lpstr>Consolas</vt:lpstr>
      <vt:lpstr>Courier New</vt:lpstr>
      <vt:lpstr>Segoe WPC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  Correlation with Sales  </vt:lpstr>
      <vt:lpstr>  Features Importance  </vt:lpstr>
      <vt:lpstr>  Features Importance  </vt:lpstr>
      <vt:lpstr>  Aggregate Daily Sales Series  </vt:lpstr>
      <vt:lpstr>  ACF/PACF-Daily Sales  </vt:lpstr>
      <vt:lpstr>  LSTM Forecast  </vt:lpstr>
      <vt:lpstr>  LSTM Loss Graph  </vt:lpstr>
      <vt:lpstr>  Comparisons GRU &amp; LSTM Models  </vt:lpstr>
      <vt:lpstr>   Actual Sales vs LSTM vs GRU Forecast   </vt:lpstr>
      <vt:lpstr>    ARIMA- Forecast   </vt:lpstr>
      <vt:lpstr>     ARIMA Forecast Residual Distribution    </vt:lpstr>
      <vt:lpstr>    A    Actual Sales vs ARIMA vs SARIMA Forecast     </vt:lpstr>
      <vt:lpstr>    A              ARIMA- SARIMA Comparison     </vt:lpstr>
      <vt:lpstr>    A                                    TABULAR Model Comparison       </vt:lpstr>
      <vt:lpstr>    A                                       Time-Series Forecasting Model Comparison       </vt:lpstr>
      <vt:lpstr>                   Per-Store Daily Sales View </vt:lpstr>
      <vt:lpstr>                      Store Sales Forecasting Dashboard… </vt:lpstr>
      <vt:lpstr>                         Store Sales Forecasting Dashboard…  </vt:lpstr>
      <vt:lpstr>                                </vt:lpstr>
      <vt:lpstr>                                </vt:lpstr>
      <vt:lpstr>PowerPoint Presentation</vt:lpstr>
      <vt:lpstr>PowerPoint Presentation</vt:lpstr>
      <vt:lpstr>PowerPoint Presentation</vt:lpstr>
      <vt:lpstr> Final Recommendation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Parasher</dc:creator>
  <cp:lastModifiedBy>Amit Parasher</cp:lastModifiedBy>
  <cp:revision>37</cp:revision>
  <dcterms:created xsi:type="dcterms:W3CDTF">2026-07-25T08:02:18Z</dcterms:created>
  <dcterms:modified xsi:type="dcterms:W3CDTF">2026-09-15T18:24:52Z</dcterms:modified>
</cp:coreProperties>
</file>